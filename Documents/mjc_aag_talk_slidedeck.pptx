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2" r:id="rId6"/>
    <p:sldId id="263" r:id="rId7"/>
    <p:sldId id="264" r:id="rId8"/>
    <p:sldId id="265" r:id="rId9"/>
    <p:sldId id="266" r:id="rId10"/>
    <p:sldId id="272" r:id="rId11"/>
    <p:sldId id="273" r:id="rId12"/>
    <p:sldId id="275" r:id="rId13"/>
    <p:sldId id="274" r:id="rId14"/>
    <p:sldId id="276" r:id="rId15"/>
    <p:sldId id="271" r:id="rId16"/>
    <p:sldId id="267" r:id="rId17"/>
    <p:sldId id="268" r:id="rId18"/>
    <p:sldId id="269" r:id="rId19"/>
    <p:sldId id="270" r:id="rId20"/>
    <p:sldId id="280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7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3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3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9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7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7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6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6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6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3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D0C2414-FC1C-4B13-AB0F-B814F3CF99C3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3ABD382-C4A6-48CC-94B4-B8CBBA277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67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rain on the tracks&#10;&#10;AI-generated content may be incorrect.">
            <a:extLst>
              <a:ext uri="{FF2B5EF4-FFF2-40B4-BE49-F238E27FC236}">
                <a16:creationId xmlns:a16="http://schemas.microsoft.com/office/drawing/2014/main" id="{B9B56962-5B0D-7A61-932D-6B98FF1C5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1781"/>
            <a:ext cx="12192001" cy="812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B94396-4A53-29C6-F047-2027087E6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258"/>
            <a:ext cx="5992167" cy="3248706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/>
              <a:t>Accessibility of Amtrak's Long Distance Network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5BA98-4696-FA31-0947-9714DCEA0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tabLst>
                <a:tab pos="8975725" algn="l"/>
              </a:tabLst>
            </a:pPr>
            <a:r>
              <a:rPr lang="en-US" dirty="0"/>
              <a:t>Michael Cattell</a:t>
            </a:r>
          </a:p>
          <a:p>
            <a:pPr algn="l">
              <a:tabLst>
                <a:tab pos="8975725" algn="l"/>
              </a:tabLst>
            </a:pPr>
            <a:r>
              <a:rPr lang="en-US" dirty="0"/>
              <a:t>Pennsylvania State University</a:t>
            </a:r>
          </a:p>
          <a:p>
            <a:pPr algn="l">
              <a:tabLst>
                <a:tab pos="8975725" algn="l"/>
              </a:tabLst>
            </a:pPr>
            <a:r>
              <a:rPr lang="en-US" dirty="0"/>
              <a:t>michaelcattell@psu.edu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A8CCF89-C004-A487-AF8C-EE9421BBF032}"/>
              </a:ext>
            </a:extLst>
          </p:cNvPr>
          <p:cNvSpPr txBox="1">
            <a:spLocks/>
          </p:cNvSpPr>
          <p:nvPr/>
        </p:nvSpPr>
        <p:spPr>
          <a:xfrm>
            <a:off x="-1" y="6528622"/>
            <a:ext cx="9144000" cy="3293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8975725" algn="l"/>
              </a:tabLst>
            </a:pPr>
            <a:r>
              <a:rPr lang="en-US" sz="1800" dirty="0">
                <a:solidFill>
                  <a:schemeClr val="tx1">
                    <a:alpha val="40000"/>
                  </a:schemeClr>
                </a:solidFill>
              </a:rPr>
              <a:t>Photo Credit: Mark Levisay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342039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D004-134F-49B5-000E-04E70152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/>
              <a:t>What is Amtrak?</a:t>
            </a:r>
          </a:p>
        </p:txBody>
      </p:sp>
    </p:spTree>
    <p:extLst>
      <p:ext uri="{BB962C8B-B14F-4D97-AF65-F5344CB8AC3E}">
        <p14:creationId xmlns:p14="http://schemas.microsoft.com/office/powerpoint/2010/main" val="37920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country&#10;&#10;AI-generated content may be incorrect.">
            <a:extLst>
              <a:ext uri="{FF2B5EF4-FFF2-40B4-BE49-F238E27FC236}">
                <a16:creationId xmlns:a16="http://schemas.microsoft.com/office/drawing/2014/main" id="{6A214A86-02C4-CA39-B534-2BB2DC6B9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9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river&#10;&#10;AI-generated content may be incorrect.">
            <a:extLst>
              <a:ext uri="{FF2B5EF4-FFF2-40B4-BE49-F238E27FC236}">
                <a16:creationId xmlns:a16="http://schemas.microsoft.com/office/drawing/2014/main" id="{141C6AC1-10F4-B894-CFC1-71C12EA6D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3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AE7BC-9290-0616-A0E5-5E4B57B0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DD4A-EE80-46B2-0508-E948D5FF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/>
              <a:t>Amtrak Route Categories</a:t>
            </a:r>
          </a:p>
        </p:txBody>
      </p:sp>
    </p:spTree>
    <p:extLst>
      <p:ext uri="{BB962C8B-B14F-4D97-AF65-F5344CB8AC3E}">
        <p14:creationId xmlns:p14="http://schemas.microsoft.com/office/powerpoint/2010/main" val="306334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9C30-8E01-A468-2F5C-40AE9856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BA94-0673-0DBA-DE83-AB2D1E51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3192367"/>
          </a:xfrm>
        </p:spPr>
        <p:txBody>
          <a:bodyPr anchor="ctr">
            <a:normAutofit/>
          </a:bodyPr>
          <a:lstStyle/>
          <a:p>
            <a:r>
              <a:rPr lang="en-US" sz="4400" dirty="0">
                <a:latin typeface="+mn-lt"/>
              </a:rPr>
              <a:t>Northeast Corridor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7090771-8B91-17D3-214B-DF73AEE19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312" y="0"/>
            <a:ext cx="254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6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E5E8-63AF-1C15-EE61-5DB62F9D7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A8E511-3BF4-9BAF-BD42-B47B1FBE3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78" y="1179426"/>
            <a:ext cx="10095243" cy="5678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C4D79E-5E1F-6321-4254-E2A6AEE3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490" y="0"/>
            <a:ext cx="6527242" cy="1557495"/>
          </a:xfrm>
        </p:spPr>
        <p:txBody>
          <a:bodyPr anchor="ctr">
            <a:normAutofit/>
          </a:bodyPr>
          <a:lstStyle/>
          <a:p>
            <a:r>
              <a:rPr lang="en-US" sz="4400" dirty="0">
                <a:latin typeface="+mn-lt"/>
              </a:rPr>
              <a:t>State-Supported Routes</a:t>
            </a:r>
          </a:p>
        </p:txBody>
      </p:sp>
    </p:spTree>
    <p:extLst>
      <p:ext uri="{BB962C8B-B14F-4D97-AF65-F5344CB8AC3E}">
        <p14:creationId xmlns:p14="http://schemas.microsoft.com/office/powerpoint/2010/main" val="323229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E2A1-F025-FB1B-EA38-FBAD6A10A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C0937B-5D82-09BB-AACC-CB074221B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" r="1087"/>
          <a:stretch/>
        </p:blipFill>
        <p:spPr>
          <a:xfrm>
            <a:off x="1212679" y="1364264"/>
            <a:ext cx="9766642" cy="5493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2A92D5-6B58-3175-C5E7-179F5950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490" y="0"/>
            <a:ext cx="6527242" cy="1557495"/>
          </a:xfrm>
        </p:spPr>
        <p:txBody>
          <a:bodyPr anchor="ctr">
            <a:normAutofit/>
          </a:bodyPr>
          <a:lstStyle/>
          <a:p>
            <a:r>
              <a:rPr lang="en-US" sz="4400" dirty="0">
                <a:latin typeface="+mn-lt"/>
              </a:rPr>
              <a:t>Long Distance Routes</a:t>
            </a:r>
          </a:p>
        </p:txBody>
      </p:sp>
    </p:spTree>
    <p:extLst>
      <p:ext uri="{BB962C8B-B14F-4D97-AF65-F5344CB8AC3E}">
        <p14:creationId xmlns:p14="http://schemas.microsoft.com/office/powerpoint/2010/main" val="287657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B21AA-AA07-A1DB-D733-2286F6F3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6946-1204-B127-F2DB-B0599CFA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/>
              <a:t>Why Trains?</a:t>
            </a:r>
          </a:p>
        </p:txBody>
      </p:sp>
    </p:spTree>
    <p:extLst>
      <p:ext uri="{BB962C8B-B14F-4D97-AF65-F5344CB8AC3E}">
        <p14:creationId xmlns:p14="http://schemas.microsoft.com/office/powerpoint/2010/main" val="198708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FE9A-AEDD-4DD5-0FC7-E6778907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BFEE-ABC7-CC09-4419-7438E27D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/>
              <a:t>Why Focus on Long-Distance?</a:t>
            </a:r>
          </a:p>
        </p:txBody>
      </p:sp>
    </p:spTree>
    <p:extLst>
      <p:ext uri="{BB962C8B-B14F-4D97-AF65-F5344CB8AC3E}">
        <p14:creationId xmlns:p14="http://schemas.microsoft.com/office/powerpoint/2010/main" val="419373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screen with white lines&#10;&#10;AI-generated content may be incorrect.">
            <a:extLst>
              <a:ext uri="{FF2B5EF4-FFF2-40B4-BE49-F238E27FC236}">
                <a16:creationId xmlns:a16="http://schemas.microsoft.com/office/drawing/2014/main" id="{6CD3070D-5550-3EC7-79AE-078B483F1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0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DDB77FBE-0844-1BBD-131D-6327075CF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37153"/>
            <a:ext cx="11704344" cy="65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7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00074952-0FDB-669F-68B2-D588FDC6A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12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black image of a dragon&#10;&#10;AI-generated content may be incorrect.">
            <a:extLst>
              <a:ext uri="{FF2B5EF4-FFF2-40B4-BE49-F238E27FC236}">
                <a16:creationId xmlns:a16="http://schemas.microsoft.com/office/drawing/2014/main" id="{6D5AFE7D-B90F-AFAE-C33B-A4F46D8FD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37153"/>
            <a:ext cx="11704344" cy="65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2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FBBE-D68C-F1CF-B9FD-B19C5762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712B-1A6E-5827-0716-352372AB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/>
              <a:t>Accessibility Metrics Used</a:t>
            </a:r>
          </a:p>
        </p:txBody>
      </p:sp>
    </p:spTree>
    <p:extLst>
      <p:ext uri="{BB962C8B-B14F-4D97-AF65-F5344CB8AC3E}">
        <p14:creationId xmlns:p14="http://schemas.microsoft.com/office/powerpoint/2010/main" val="34401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CE8E4-3065-61C7-0E34-9484E2C6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ain on the tracks at night&#10;&#10;AI-generated content may be incorrect.">
            <a:extLst>
              <a:ext uri="{FF2B5EF4-FFF2-40B4-BE49-F238E27FC236}">
                <a16:creationId xmlns:a16="http://schemas.microsoft.com/office/drawing/2014/main" id="{2E578D03-3424-B1C3-47AD-C97771D8A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2BBB21-DA69-6A5C-A402-4260ADEA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>
                <a:latin typeface="+mn-lt"/>
              </a:rPr>
              <a:t>Departure Times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2194E88-FAF2-6B16-3EE0-7785DACB44A9}"/>
              </a:ext>
            </a:extLst>
          </p:cNvPr>
          <p:cNvSpPr txBox="1">
            <a:spLocks/>
          </p:cNvSpPr>
          <p:nvPr/>
        </p:nvSpPr>
        <p:spPr>
          <a:xfrm>
            <a:off x="-1" y="6528622"/>
            <a:ext cx="9144000" cy="3293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8975725" algn="l"/>
              </a:tabLst>
            </a:pPr>
            <a:r>
              <a:rPr lang="en-US" sz="1800" dirty="0">
                <a:solidFill>
                  <a:schemeClr val="tx1">
                    <a:alpha val="40000"/>
                  </a:schemeClr>
                </a:solidFill>
              </a:rPr>
              <a:t>Photo Credit: Jeff Dunn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425253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F850-9E9E-7D11-D90C-6307D779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360844-F151-C3B3-75FC-D0BD00BBA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59283"/>
            <a:ext cx="12192000" cy="8161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EE3729-0407-092E-AE85-A0B39196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>
                <a:latin typeface="+mn-lt"/>
              </a:rPr>
              <a:t>Delays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E81FE1F-DC3E-4A98-1684-C0E175482DD9}"/>
              </a:ext>
            </a:extLst>
          </p:cNvPr>
          <p:cNvSpPr txBox="1">
            <a:spLocks/>
          </p:cNvSpPr>
          <p:nvPr/>
        </p:nvSpPr>
        <p:spPr>
          <a:xfrm>
            <a:off x="-1" y="6528622"/>
            <a:ext cx="9144000" cy="3293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8975725" algn="l"/>
              </a:tabLst>
            </a:pPr>
            <a:r>
              <a:rPr lang="en-US" sz="1800" dirty="0">
                <a:solidFill>
                  <a:schemeClr val="tx1">
                    <a:alpha val="40000"/>
                  </a:schemeClr>
                </a:solidFill>
              </a:rPr>
              <a:t>Photo Credit: Steve Morgan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2649594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5FC6-C6CC-43EF-4E7F-12657660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F1ED-9FED-EDCE-993A-10628E40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/>
          <a:p>
            <a:r>
              <a:rPr lang="en-US" sz="54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16350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69643-B744-B11A-A24D-EF8E41DC0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63CD7B-02A2-596B-33BB-009380543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37153"/>
            <a:ext cx="11704344" cy="65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54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gold dots&#10;&#10;AI-generated content may be incorrect.">
            <a:extLst>
              <a:ext uri="{FF2B5EF4-FFF2-40B4-BE49-F238E27FC236}">
                <a16:creationId xmlns:a16="http://schemas.microsoft.com/office/drawing/2014/main" id="{D8AC6D4E-2A16-0750-4CC1-F99037DF0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137153"/>
            <a:ext cx="11704344" cy="65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9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38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Custom 4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589</TotalTime>
  <Words>69</Words>
  <Application>Microsoft Office PowerPoint</Application>
  <PresentationFormat>Widescreen</PresentationFormat>
  <Paragraphs>18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Avenir Next LT Pro</vt:lpstr>
      <vt:lpstr>Avenir Next LT Pro Demi</vt:lpstr>
      <vt:lpstr>Office Theme</vt:lpstr>
      <vt:lpstr>Accessibility of Amtrak's Long Distance Network</vt:lpstr>
      <vt:lpstr>What is Amtrak?</vt:lpstr>
      <vt:lpstr>PowerPoint Presentation</vt:lpstr>
      <vt:lpstr>PowerPoint Presentation</vt:lpstr>
      <vt:lpstr>Amtrak Route Categories</vt:lpstr>
      <vt:lpstr>Northeast Corridor</vt:lpstr>
      <vt:lpstr>State-Supported Routes</vt:lpstr>
      <vt:lpstr>Long Distance Routes</vt:lpstr>
      <vt:lpstr>Why Trains?</vt:lpstr>
      <vt:lpstr>Why Focus on Long-Distance?</vt:lpstr>
      <vt:lpstr>PowerPoint Presentation</vt:lpstr>
      <vt:lpstr>PowerPoint Presentation</vt:lpstr>
      <vt:lpstr>PowerPoint Presentation</vt:lpstr>
      <vt:lpstr>PowerPoint Presentation</vt:lpstr>
      <vt:lpstr>Accessibility Metrics Used</vt:lpstr>
      <vt:lpstr>Departure Times</vt:lpstr>
      <vt:lpstr>Delays</vt:lpstr>
      <vt:lpstr>Results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Cattell Jr., Michael Joseph</dc:creator>
  <cp:lastModifiedBy>Cattell Jr., Michael Joseph</cp:lastModifiedBy>
  <cp:revision>12</cp:revision>
  <dcterms:created xsi:type="dcterms:W3CDTF">2025-03-13T15:20:43Z</dcterms:created>
  <dcterms:modified xsi:type="dcterms:W3CDTF">2025-03-20T15:42:39Z</dcterms:modified>
</cp:coreProperties>
</file>